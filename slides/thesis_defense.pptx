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59"/>
              </a:lnSpc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Scaling Laws for LLM Negotiation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647" y="2834640"/>
            <a:ext cx="548640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0"/>
              </a:spcAft>
              <a:defRPr sz="2200" b="0">
                <a:solidFill>
                  <a:srgbClr val="AEBFD5"/>
                </a:solidFill>
                <a:latin typeface="Calibri"/>
              </a:defRPr>
            </a:pPr>
            <a:r>
              <a:t>How model capability shapes bargaining outcomes</a:t>
            </a:r>
            <a:br/>
            <a:r>
              <a:t>across cooperative and competitive regimes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Jonathan Zhu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Aft>
                <a:spcPts val="0"/>
              </a:spcAft>
              <a:defRPr sz="1600" b="0">
                <a:solidFill>
                  <a:srgbClr val="8E9FB5"/>
                </a:solidFill>
                <a:latin typeface="Calibri"/>
              </a:defRPr>
            </a:pPr>
            <a:r>
              <a:t>Advisor: Prof. Danqi Chen  |  Princeton University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8521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25"/>
              </a:lnSpc>
              <a:spcAft>
                <a:spcPts val="0"/>
              </a:spcAft>
              <a:defRPr sz="1500" b="0">
                <a:solidFill>
                  <a:srgbClr val="CED9E5"/>
                </a:solidFill>
                <a:latin typeface="Calibri"/>
              </a:defRPr>
            </a:pPr>
            <a:r>
              <a:t>Thesis: Higher Elo reliably predicts better negotiation payoffs, but competition structure and game mechanism modulate the slope.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1B2A4A"/>
                </a:solidFill>
                <a:latin typeface="Calibri"/>
              </a:defRPr>
            </a:pPr>
            <a:r>
              <a:t>Why Study LLM Negotiation?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746607" y="1051560"/>
            <a:ext cx="106984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defRPr sz="20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LLMs are increasingly deployed as autonomous agents in multi-party settings</a:t>
            </a:r>
          </a:p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defRPr sz="20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Negotiation is a canonical testbed for strategic reasoning in natural language</a:t>
            </a:r>
          </a:p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defRPr sz="20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Prior work shows stronger models diverge into model-specific strategic signatures rather than converging to a common policy (Rios et al., 2025)</a:t>
            </a:r>
          </a:p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defRPr sz="20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Scaling laws well-studied for single-agent RL, vision, and LLMs — but not for multi-agent negotiation with tunable strategic structure</a:t>
            </a:r>
          </a:p>
          <a:p>
            <a:pPr>
              <a:lnSpc>
                <a:spcPts val="2600"/>
              </a:lnSpc>
              <a:spcBef>
                <a:spcPts val="400"/>
              </a:spcBef>
              <a:spcAft>
                <a:spcPts val="400"/>
              </a:spcAft>
              <a:defRPr sz="2000" b="1">
                <a:solidFill>
                  <a:srgbClr val="343A40"/>
                </a:solidFill>
                <a:latin typeface="Calibri"/>
              </a:defRPr>
              <a:buChar char="•"/>
            </a:pPr>
            <a:r>
              <a:t>Key safety question: does higher capability lead to exploitation of weaker partners?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212080"/>
            <a:ext cx="9418320" cy="109728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E86C1"/>
                </a:solidFill>
                <a:latin typeface="Calibri"/>
              </a:defRPr>
            </a:pPr>
            <a:r>
              <a:t>Gap: No systematic study of how LLM capability interacts with cooperation–competition structure across multiple negotiation mechanisms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1B2A4A"/>
                </a:solidFill>
                <a:latin typeface="Calibri"/>
              </a:defRPr>
            </a:pPr>
            <a:r>
              <a:t>Research Questions &amp; Experiment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46607" y="1051560"/>
            <a:ext cx="106984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40"/>
              </a:lnSpc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343A40"/>
                </a:solidFill>
                <a:latin typeface="Calibri"/>
              </a:defRPr>
              <a:buChar char="•"/>
            </a:pPr>
            <a:r>
              <a:t>RQ1: Does higher Elo translate into better bargaining outcomes against a fixed baseline?</a:t>
            </a:r>
          </a:p>
          <a:p>
            <a:pPr>
              <a:lnSpc>
                <a:spcPts val="2340"/>
              </a:lnSpc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343A40"/>
                </a:solidFill>
                <a:latin typeface="Calibri"/>
              </a:defRPr>
              <a:buChar char="•"/>
            </a:pPr>
            <a:r>
              <a:t>RQ2: How much variation comes from competition parameters vs. capability alone?</a:t>
            </a:r>
          </a:p>
          <a:p>
            <a:pPr>
              <a:lnSpc>
                <a:spcPts val="2340"/>
              </a:lnSpc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343A40"/>
                </a:solidFill>
                <a:latin typeface="Calibri"/>
              </a:defRPr>
              <a:buChar char="•"/>
            </a:pPr>
            <a:r>
              <a:t>RQ3: What changes across three distinct negotiation mechanisms?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10"/>
              </a:lnSpc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Fixed baseline: GPT-5-nano (Elo 1338)</a:t>
            </a:r>
          </a:p>
          <a:p>
            <a:pPr>
              <a:lnSpc>
                <a:spcPts val="2210"/>
              </a:lnSpc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36 adversary models spanning Elo range −226 to +152</a:t>
            </a:r>
          </a:p>
          <a:p>
            <a:pPr>
              <a:lnSpc>
                <a:spcPts val="2210"/>
              </a:lnSpc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3 game mechanisms with tunable competition</a:t>
            </a:r>
          </a:p>
          <a:p>
            <a:pPr>
              <a:lnSpc>
                <a:spcPts val="2210"/>
              </a:lnSpc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n = 2 agents, m = 5 items/issues, T = 10 rounds</a:t>
            </a:r>
          </a:p>
          <a:p>
            <a:pPr>
              <a:lnSpc>
                <a:spcPts val="2210"/>
              </a:lnSpc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~1,970 total completed game configurations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32004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2E86C1"/>
                </a:solidFill>
                <a:latin typeface="Calibri"/>
              </a:defRPr>
            </a:pPr>
            <a:r>
              <a:t>Game 1: Item 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343A40"/>
                </a:solidFill>
                <a:latin typeface="Calibri"/>
              </a:defRPr>
            </a:pPr>
            <a:r>
              <a:t>Rivalrous goods</a:t>
            </a:r>
            <a:br/>
            <a:r>
              <a:t>α ∈ [0,1] competition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4389120"/>
            <a:ext cx="32004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4526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28A745"/>
                </a:solidFill>
                <a:latin typeface="Calibri"/>
              </a:defRPr>
            </a:pPr>
            <a:r>
              <a:t>Game 2: Diplomatic Treaty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50292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343A40"/>
                </a:solidFill>
                <a:latin typeface="Calibri"/>
              </a:defRPr>
            </a:pPr>
            <a:r>
              <a:t>Continuous terms</a:t>
            </a:r>
            <a:br/>
            <a:r>
              <a:t>ρ, θ competition axes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389120"/>
            <a:ext cx="32004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526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FD7E14"/>
                </a:solidFill>
                <a:latin typeface="Calibri"/>
              </a:defRPr>
            </a:pPr>
            <a:r>
              <a:t>Game 3: Co-Funding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50292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343A40"/>
                </a:solidFill>
                <a:latin typeface="Calibri"/>
              </a:defRPr>
            </a:pPr>
            <a:r>
              <a:t>Threshold public goods</a:t>
            </a:r>
            <a:br/>
            <a:r>
              <a:t>α, σ parameters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1B2A4A"/>
                </a:solidFill>
                <a:latin typeface="Calibri"/>
              </a:defRPr>
            </a:pPr>
            <a:r>
              <a:t>Game 1: Item Allocation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46607" y="1051560"/>
            <a:ext cx="106984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n agents split m items; each agent has private valuations v_i (sum to 100)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Utility: u_i(A) = γ^(t-1) · A[i] · v_i  (discount γ = 0.9)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Competition: cosine similarity α = cos(v_i, v_j) ∈ [0,1]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α = 1 → zero-sum (same preferences); α = 0 → cooperative (orthogonal)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Propose-and-vote protocol: discuss → think → propose → vote → reflect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Unanimous approval required; T = 10 rounds, then utility = 0</a:t>
            </a:r>
          </a:p>
        </p:txBody>
      </p:sp>
      <p:pic>
        <p:nvPicPr>
          <p:cNvPr id="5" name="Picture 4" descr="average_utility_vs_e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1188720"/>
            <a:ext cx="5486400" cy="34025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6126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890 completed runs  |  30 adversary models  |  r = 0.85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1B2A4A"/>
                </a:solidFill>
                <a:latin typeface="Calibri"/>
              </a:defRPr>
            </a:pPr>
            <a:r>
              <a:t>Game 2: Diplomatic Treaty Negotiation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46607" y="1051560"/>
            <a:ext cx="106984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n agents negotiate m continuous issues; agreement a ∈ [0,1]^m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Each agent has position prefs p_i and importance weights w_i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Utility: u_i(a) = 100 · Σ w_ik · (1 - |p_ik - a_k|)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Two competition axes (Gaussian copula preferences):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  ρ ∈ [−0.25, 1]: preference correlation (same vs. opposing outcomes)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  θ ∈ [0, 1]: interest overlap (same vs. different issues)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Same propose-and-vote protocol as Game 1</a:t>
            </a:r>
          </a:p>
        </p:txBody>
      </p:sp>
      <p:pic>
        <p:nvPicPr>
          <p:cNvPr id="5" name="Picture 4" descr="utility_vs_elo_by_rho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1188720"/>
            <a:ext cx="5486400" cy="18451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6126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540/540 completed  |  30 models  |  r = 0.82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1B2A4A"/>
                </a:solidFill>
                <a:latin typeface="Calibri"/>
              </a:defRPr>
            </a:pPr>
            <a:r>
              <a:t>Game 3: Participatory Budgeting (Co-Funding)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746607" y="1051560"/>
            <a:ext cx="106984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n agents pool budgets to fund m projects (threshold public goods)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Project j funded iff total contributions ≥ cost c_j (refund if not)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Utility: u_i(X) = Σ_{j∈S} v_ij - Σ_{j∈S} x_ij  (value minus cost share)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Key difference: threshold non-linearity creates free-riding incentives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Two competition axes: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  α ∈ [0,1]: preference alignment (shared vs. disjoint project values)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  σ ∈ (0,1]: budget scarcity (budget / total cost)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Talk–Pledge–Revise protocol (not propose-and-vote)</a:t>
            </a:r>
          </a:p>
        </p:txBody>
      </p:sp>
      <p:pic>
        <p:nvPicPr>
          <p:cNvPr id="5" name="Picture 4" descr="utility_vs_elo_by_alpha_sig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1188720"/>
            <a:ext cx="5486400" cy="18413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6126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540/540 completed  |  29 adversary models  |  r = 0.72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1B2A4A"/>
                </a:solidFill>
                <a:latin typeface="Calibri"/>
              </a:defRPr>
            </a:pPr>
            <a:r>
              <a:t>Evaluation Metrics &amp; Solution Benchmarks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46607" y="1051560"/>
            <a:ext cx="106984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0"/>
              </a:spcAft>
              <a:defRPr sz="2200" b="1">
                <a:solidFill>
                  <a:srgbClr val="2E86C1"/>
                </a:solidFill>
                <a:latin typeface="Calibri"/>
              </a:defRPr>
            </a:pPr>
            <a:r>
              <a:t>Core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Utilitarian efficiency η = SW_actual / SW_optimal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Exploitation index E_i = (u_actual - u_fair) / |u_fair|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Efficiency–fairness decomposition:</a:t>
            </a:r>
            <a:br/>
            <a:r>
              <a:t>  - Efficiency loss = SW* - SW_actual</a:t>
            </a:r>
            <a:br/>
            <a:r>
              <a:t>  - Fairness deviation = distance from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0"/>
              </a:spcAft>
              <a:defRPr sz="2200" b="1">
                <a:solidFill>
                  <a:srgbClr val="2E86C1"/>
                </a:solidFill>
                <a:latin typeface="Calibri"/>
              </a:defRPr>
            </a:pPr>
            <a:r>
              <a:t>Fair Benchmarks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Games 1 &amp; 2: Nash Bargaining Solution (NBS)</a:t>
            </a:r>
            <a:br/>
            <a:r>
              <a:t>  max Π u_i(A) — unique, Pareto efficient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Game 3: Lindahl equilibrium</a:t>
            </a:r>
            <a:br/>
            <a:r>
              <a:t>  x_ij = c_j · v_ij / Σ_k v_kj — proportional cost-sharing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Game 3: Core of cooperative game</a:t>
            </a:r>
            <a:br/>
            <a:r>
              <a:t>  No coalition can do better independently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Optimal computed exactly: greedy (G1), weighted median (G2), knapsack (G3)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C757D"/>
                </a:solidFill>
                <a:latin typeface="Calibri"/>
              </a:defRPr>
            </a:pPr>
            <a:r>
              <a:t>Normalization: All games on [0, 100] utility scale. Cross-σ comparisons use η. Exploitation index E_i comparable across games.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9"/>
              </a:lnSpc>
              <a:spcAft>
                <a:spcPts val="0"/>
              </a:spcAft>
              <a:defRPr sz="3400" b="1">
                <a:solidFill>
                  <a:srgbClr val="1B2A4A"/>
                </a:solidFill>
                <a:latin typeface="Calibri"/>
              </a:defRPr>
            </a:pPr>
            <a:r>
              <a:t>Game 1 Results: Capability Buys Better Deals, Faster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46607" y="1051560"/>
            <a:ext cx="106984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verage_utility_vs_competition_level_aggregated_over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303520" cy="3392988"/>
          </a:xfrm>
          <a:prstGeom prst="rect">
            <a:avLst/>
          </a:prstGeom>
        </p:spPr>
      </p:pic>
      <p:pic>
        <p:nvPicPr>
          <p:cNvPr id="5" name="Picture 4" descr="average_rounds_to_consensus_vs_e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303520" cy="32874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Utility drops from 95.1 (α=0) to 39.4 (α=1)  |  Strongest models preserve leverage even at α=1  |  Elo–rounds correlation: −0.47 (faster deals)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1B2A4A"/>
                </a:solidFill>
                <a:latin typeface="Calibri"/>
              </a:defRPr>
            </a:pPr>
            <a:r>
              <a:t>Game 2 &amp; Game 3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46607" y="1051560"/>
            <a:ext cx="106984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28A745"/>
                </a:solidFill>
                <a:latin typeface="Calibri"/>
              </a:defRPr>
            </a:pPr>
            <a:r>
              <a:t>Game 2: Treaty (540/540 complete)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r = 0.82 Elo–utility correlation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Much higher utility level: mean ~85 across all conditions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ρ (preference correlation) matters more than θ (interest overlap)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ρ=1 → utility 97.6; ρ=−1 → utility 74.7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Most forgiving: even hardest condition, mean utility &gt; 65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All runs reach agreement; mean 1.5 rounds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FD7E14"/>
                </a:solidFill>
                <a:latin typeface="Calibri"/>
              </a:defRPr>
            </a:pPr>
            <a:r>
              <a:t>Game 3: Co-Funding (540/540 complete)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r = 0.72 Elo–utility (weakest of three games)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Much lower payoffs: GPT-5.4 High leads at only 40.5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σ (scarcity) does most of the damage, not α (alignment)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Hardest cell: some models go negative (lost money!)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Threshold non-linearity → coordination failure risk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Nova Micro averages 0.26 utility; Llama 3.1 8B goes to −4.46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029200"/>
            <a:ext cx="10332720" cy="1371600"/>
          </a:xfrm>
          <a:prstGeom prst="round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343A40"/>
                </a:solidFill>
                <a:latin typeface="Calibri"/>
              </a:defRPr>
            </a:pPr>
            <a:r>
              <a:t>Key contrast: Treaty bargaining is forgiving (continuous compromise always possible). Co-funding is harsh (threshold non-linearity means small mistakes → zero payoff). Game mechanism determines how severe competition's impact becomes.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1B2A4A"/>
                </a:solidFill>
                <a:latin typeface="Calibri"/>
              </a:defRPr>
            </a:pPr>
            <a:r>
              <a:t>Cross-Game Synthesis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46607" y="1051560"/>
            <a:ext cx="106984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2E86C1"/>
                </a:solidFill>
                <a:latin typeface="Calibri"/>
              </a:defRPr>
            </a:pPr>
            <a:r>
              <a:t>Game 1</a:t>
            </a:r>
            <a:br/>
            <a:r>
              <a:t>Item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r = 0.85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Steady decline with competition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Stronger models: better splits + faster deals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Top: Opus 4.5 (72.6)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59" y="1371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28A745"/>
                </a:solidFill>
                <a:latin typeface="Calibri"/>
              </a:defRPr>
            </a:pPr>
            <a:r>
              <a:t>Game 2</a:t>
            </a:r>
            <a:br/>
            <a:r>
              <a:t>Diplomatic Treaty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59" y="21945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r = 0.82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Milder competition effect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High utility even in hardest conditions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Top: Opus 4.6T (94.4)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8" y="1371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FD7E14"/>
                </a:solidFill>
                <a:latin typeface="Calibri"/>
              </a:defRPr>
            </a:pPr>
            <a:r>
              <a:t>Game 3</a:t>
            </a:r>
            <a:br/>
            <a:r>
              <a:t>Co-Funding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8" y="219456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r = 0.72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Sharpest competition effect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Coordination failure at extremes</a:t>
            </a:r>
          </a:p>
          <a:p>
            <a:pPr>
              <a:lnSpc>
                <a:spcPts val="1950"/>
              </a:lnSpc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Top: GPT-5.4H (40.5)</a:t>
            </a:r>
          </a:p>
        </p:txBody>
      </p:sp>
      <p:pic>
        <p:nvPicPr>
          <p:cNvPr id="10" name="Picture 9" descr="game1_gpt5_nano_baseline_payoff_vs_adversary_elo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710" y="3931920"/>
            <a:ext cx="4034274" cy="2560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6309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6C757D"/>
                </a:solidFill>
                <a:latin typeface="Calibri"/>
              </a:defRPr>
            </a:pPr>
            <a:r>
              <a:t>GPT-5-nano baseline payoff decreases as adversary Elo rises — consistent across all three games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1B2A4A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46607" y="1051560"/>
            <a:ext cx="10698480" cy="381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0"/>
              </a:spcAft>
              <a:defRPr sz="2200" b="1">
                <a:solidFill>
                  <a:srgbClr val="DC3545"/>
                </a:solidFill>
                <a:latin typeface="Calibri"/>
              </a:defRPr>
            </a:pPr>
            <a:r>
              <a:t>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All results are n = 2 (bilateral negotiation only)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Fixed baseline (GPT-5-nano) — results may differ with other baselines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Confounds: instruction-following, sycophancy vs. true strategic capability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API-based models: no control over decoding, context length varies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Single-shot competition parameters per game instance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0"/>
              </a:spcAft>
              <a:defRPr sz="2200" b="1">
                <a:solidFill>
                  <a:srgbClr val="28A745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n &gt; 2 extension: 9,600 configs currently running on cluster</a:t>
            </a:r>
            <a:br/>
            <a:r>
              <a:t>  (316 completed as of April 14, 2026)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Multi-domain expansion beyond negotiation (ICML target)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Behavioral metrics pipeline: promise-keeping, free-riding, persuasion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Adaptive opponents (profit-driven red teaming)</a:t>
            </a:r>
          </a:p>
          <a:p>
            <a:pPr>
              <a:lnSpc>
                <a:spcPts val="2080"/>
              </a:lnSpc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Test-time compute scaling for strategic reasoning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1B2A4A"/>
                </a:solidFill>
                <a:latin typeface="Calibri"/>
              </a:defRPr>
            </a:pPr>
            <a:r>
              <a:t>Thank you! — 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0"/>
              </a:spcAft>
              <a:defRPr sz="3000" b="1">
                <a:solidFill>
                  <a:srgbClr val="1B2A4A"/>
                </a:solidFill>
                <a:latin typeface="Calibri"/>
              </a:defRPr>
            </a:pPr>
            <a:r>
              <a:t>Backup A: Game 2 — ρ×θ Heatmaps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46607" y="868680"/>
            <a:ext cx="10698480" cy="381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tility_rho_theta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303520" cy="3925661"/>
          </a:xfrm>
          <a:prstGeom prst="rect">
            <a:avLst/>
          </a:prstGeom>
        </p:spPr>
      </p:pic>
      <p:pic>
        <p:nvPicPr>
          <p:cNvPr id="5" name="Picture 4" descr="social_welfare_rho_theta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303520" cy="40852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C757D"/>
                </a:solidFill>
                <a:latin typeface="Calibri"/>
              </a:defRPr>
            </a:pPr>
            <a:r>
              <a:t>Left: Mean adversary utility  |  Right: Social welfare  |  Both show ρ drives more variation than 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t>B-A/B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450"/>
              </a:lnSpc>
              <a:spcAft>
                <a:spcPts val="0"/>
              </a:spcAft>
              <a:defRPr sz="3000" b="1">
                <a:solidFill>
                  <a:srgbClr val="1B2A4A"/>
                </a:solidFill>
                <a:latin typeface="Calibri"/>
              </a:defRPr>
            </a:pPr>
            <a:r>
              <a:t>Backup B: n &gt; 2 Extension — Early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46607" y="868680"/>
            <a:ext cx="10698480" cy="381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10"/>
              </a:lnSpc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Game 1 multi-agent batch: 9,600 total configurations</a:t>
            </a:r>
          </a:p>
          <a:p>
            <a:pPr>
              <a:lnSpc>
                <a:spcPts val="2210"/>
              </a:lnSpc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As of April 14, 2026: 316 successful, 181 running, 1,506 queued, 7,596 not started</a:t>
            </a:r>
          </a:p>
          <a:p>
            <a:pPr>
              <a:lnSpc>
                <a:spcPts val="2210"/>
              </a:lnSpc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Early finding: Proposal-1 advantage varies with Elo (see figure)</a:t>
            </a:r>
          </a:p>
          <a:p>
            <a:pPr>
              <a:lnSpc>
                <a:spcPts val="2210"/>
              </a:lnSpc>
              <a:spcBef>
                <a:spcPts val="400"/>
              </a:spcBef>
              <a:spcAft>
                <a:spcPts val="400"/>
              </a:spcAft>
              <a:defRPr sz="1700" b="0">
                <a:solidFill>
                  <a:srgbClr val="343A40"/>
                </a:solidFill>
                <a:latin typeface="Calibri"/>
              </a:defRPr>
              <a:buChar char="•"/>
            </a:pPr>
            <a:r>
              <a:t>Full results expected before camera-ready deadline</a:t>
            </a:r>
          </a:p>
        </p:txBody>
      </p:sp>
      <p:pic>
        <p:nvPicPr>
          <p:cNvPr id="5" name="Picture 4" descr="proposal1_advantage_vs_e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047" y="1097280"/>
            <a:ext cx="5943600" cy="18573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FD7E14"/>
                </a:solidFill>
                <a:latin typeface="Calibri"/>
              </a:defRPr>
            </a:pPr>
            <a:r>
              <a:t>Preliminary: batch incomplete — treat as ongoing extension, not finalized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6C757D"/>
                </a:solidFill>
                <a:latin typeface="Calibri"/>
              </a:defRPr>
            </a:pPr>
            <a:r>
              <a:t>B-B/B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